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开场：各位老师、同学好，我们是创业组。我们的题目是——探索 Vibe Coding 在各类企业中的应用与转化。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先破题：豆包、千问大家都很熟，写作业、算数据也都很顺手。但 AI 如果不止给答案，而是直接把东西做出来呢？这就是我们的选题背景。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看清 AI 的长处：检索归纳、生成试错、理解调试、并行协作。结论是它缩短「想法到能跑」的距离，而不是替你拍板。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再把问题抛到具体行业：运输、财会、外贸、个人生涯。每个方向都只需要一台电脑和一个足够具体的问题。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结语：愿景是让普通人的经验变成别人能用的工具。最后致谢老师与全组成员。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3A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16207" y="457200"/>
            <a:ext cx="64008" cy="5760720"/>
          </a:xfrm>
          <a:prstGeom prst="rect">
            <a:avLst/>
          </a:prstGeom>
          <a:solidFill>
            <a:srgbClr val="17443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323015" y="5989320"/>
            <a:ext cx="64008" cy="64008"/>
          </a:xfrm>
          <a:prstGeom prst="ellipse">
            <a:avLst/>
          </a:prstGeom>
          <a:solidFill>
            <a:srgbClr val="E4A94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496751" y="5989320"/>
            <a:ext cx="64008" cy="64008"/>
          </a:xfrm>
          <a:prstGeom prst="ellipse">
            <a:avLst/>
          </a:prstGeom>
          <a:solidFill>
            <a:srgbClr val="E4A94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670487" y="5989320"/>
            <a:ext cx="64008" cy="64008"/>
          </a:xfrm>
          <a:prstGeom prst="ellipse">
            <a:avLst/>
          </a:prstGeom>
          <a:solidFill>
            <a:srgbClr val="E4A94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323015" y="6163056"/>
            <a:ext cx="64008" cy="64008"/>
          </a:xfrm>
          <a:prstGeom prst="ellipse">
            <a:avLst/>
          </a:prstGeom>
          <a:solidFill>
            <a:srgbClr val="E4A94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96751" y="6163056"/>
            <a:ext cx="64008" cy="64008"/>
          </a:xfrm>
          <a:prstGeom prst="ellipse">
            <a:avLst/>
          </a:prstGeom>
          <a:solidFill>
            <a:srgbClr val="E4A94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70487" y="6163056"/>
            <a:ext cx="64008" cy="64008"/>
          </a:xfrm>
          <a:prstGeom prst="ellipse">
            <a:avLst/>
          </a:prstGeom>
          <a:solidFill>
            <a:srgbClr val="E4A94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323015" y="6336792"/>
            <a:ext cx="64008" cy="64008"/>
          </a:xfrm>
          <a:prstGeom prst="ellipse">
            <a:avLst/>
          </a:prstGeom>
          <a:solidFill>
            <a:srgbClr val="E4A94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96751" y="6336792"/>
            <a:ext cx="64008" cy="64008"/>
          </a:xfrm>
          <a:prstGeom prst="ellipse">
            <a:avLst/>
          </a:prstGeom>
          <a:solidFill>
            <a:srgbClr val="E4A94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670487" y="6336792"/>
            <a:ext cx="64008" cy="64008"/>
          </a:xfrm>
          <a:prstGeom prst="ellipse">
            <a:avLst/>
          </a:prstGeom>
          <a:solidFill>
            <a:srgbClr val="E4A94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" y="658368"/>
            <a:ext cx="73152" cy="73152"/>
          </a:xfrm>
          <a:prstGeom prst="ellipse">
            <a:avLst/>
          </a:prstGeom>
          <a:solidFill>
            <a:srgbClr val="E4A94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5" y="548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260">
                <a:solidFill>
                  <a:srgbClr val="E4A94E"/>
                </a:solidFill>
                <a:latin typeface="Noto Sans CJK SC"/>
              </a:rPr>
              <a:t>创业组 · 团队汇报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71255" y="5486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200">
                <a:solidFill>
                  <a:srgbClr val="B8C6C1"/>
                </a:solidFill>
                <a:latin typeface="Noto Sans CJK SC"/>
              </a:rPr>
              <a:t>2026.10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1847088"/>
            <a:ext cx="6400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 i="0" spc="160">
                <a:solidFill>
                  <a:srgbClr val="FFFFFF"/>
                </a:solidFill>
                <a:latin typeface="Noto Serif CJK SC"/>
              </a:rPr>
              <a:t>Vibe Coding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724912"/>
            <a:ext cx="6400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spc="180">
                <a:solidFill>
                  <a:srgbClr val="E4A94E"/>
                </a:solidFill>
                <a:latin typeface="Noto Serif CJK SC"/>
              </a:rPr>
              <a:t>让想法，先跑起来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877056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B8C6C1"/>
                </a:solidFill>
                <a:latin typeface="Noto Sans CJK SC"/>
              </a:rPr>
              <a:t>从「写作业」到「做产品」：AI 的下一种用法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230368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200">
                <a:solidFill>
                  <a:srgbClr val="E4A94E"/>
                </a:solidFill>
                <a:latin typeface="Noto Sans CJK SC"/>
              </a:rPr>
              <a:t>宗旨   </a:t>
            </a:r>
            <a:r>
              <a:rPr sz="1150" b="0" i="0" spc="80">
                <a:solidFill>
                  <a:srgbClr val="B8C6C1"/>
                </a:solidFill>
                <a:latin typeface="Noto Sans CJK SC"/>
              </a:rPr>
              <a:t>探索 Vibe Coding 在各类企业中的应用与转化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742432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C7C76"/>
                </a:solidFill>
                <a:latin typeface="Noto Sans CJK SC"/>
              </a:rPr>
              <a:t>河北师范大学 · 创业组全体成员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03720" y="1965960"/>
            <a:ext cx="4297680" cy="3063240"/>
          </a:xfrm>
          <a:prstGeom prst="roundRect">
            <a:avLst>
              <a:gd name="adj" fmla="val 7000"/>
            </a:avLst>
          </a:prstGeom>
          <a:solidFill>
            <a:srgbClr val="082624"/>
          </a:solidFill>
          <a:ln w="12700">
            <a:solidFill>
              <a:srgbClr val="17443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59752" y="2203704"/>
            <a:ext cx="82296" cy="82296"/>
          </a:xfrm>
          <a:prstGeom prst="ellipse">
            <a:avLst/>
          </a:prstGeom>
          <a:solidFill>
            <a:srgbClr val="C26A4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33488" y="2203704"/>
            <a:ext cx="82296" cy="82296"/>
          </a:xfrm>
          <a:prstGeom prst="ellipse">
            <a:avLst/>
          </a:prstGeom>
          <a:solidFill>
            <a:srgbClr val="E4A94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07224" y="2203704"/>
            <a:ext cx="82296" cy="82296"/>
          </a:xfrm>
          <a:prstGeom prst="ellipse">
            <a:avLst/>
          </a:prstGeom>
          <a:solidFill>
            <a:srgbClr val="4F7C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0" y="2139696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C7C76"/>
                </a:solidFill>
                <a:latin typeface="Courier New"/>
              </a:rPr>
              <a:t>zsh — vibe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4616" y="2679191"/>
            <a:ext cx="37490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8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4A94E"/>
                </a:solidFill>
                <a:latin typeface="Courier New"/>
              </a:rPr>
              <a:t>$ </a:t>
            </a:r>
            <a:r>
              <a:rPr sz="1200" b="0" i="0">
                <a:solidFill>
                  <a:srgbClr val="FFFFFF"/>
                </a:solidFill>
                <a:latin typeface="Courier New"/>
              </a:rPr>
              <a:t>vibe coding</a:t>
            </a:r>
          </a:p>
          <a:p>
            <a:pPr algn="l">
              <a:lnSpc>
                <a:spcPct val="18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4A94E"/>
                </a:solidFill>
                <a:latin typeface="Courier New"/>
              </a:rPr>
              <a:t>&gt; </a:t>
            </a:r>
            <a:r>
              <a:rPr sz="1200" b="0" i="0">
                <a:solidFill>
                  <a:srgbClr val="B8C6C1"/>
                </a:solidFill>
                <a:latin typeface="Courier New"/>
              </a:rPr>
              <a:t>从一句话开始</a:t>
            </a:r>
          </a:p>
          <a:p>
            <a:pPr algn="l">
              <a:lnSpc>
                <a:spcPct val="18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FC2A8"/>
                </a:solidFill>
                <a:latin typeface="Courier New"/>
              </a:rPr>
              <a:t>✓ </a:t>
            </a:r>
            <a:r>
              <a:rPr sz="1200" b="0" i="0">
                <a:solidFill>
                  <a:srgbClr val="B8C6C1"/>
                </a:solidFill>
                <a:latin typeface="Courier New"/>
              </a:rPr>
              <a:t>调通数据接口</a:t>
            </a:r>
          </a:p>
          <a:p>
            <a:pPr algn="l">
              <a:lnSpc>
                <a:spcPct val="18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FC2A8"/>
                </a:solidFill>
                <a:latin typeface="Courier New"/>
              </a:rPr>
              <a:t>✓ </a:t>
            </a:r>
            <a:r>
              <a:rPr sz="1200" b="0" i="0">
                <a:solidFill>
                  <a:srgbClr val="B8C6C1"/>
                </a:solidFill>
                <a:latin typeface="Courier New"/>
              </a:rPr>
              <a:t>上线一个小工具</a:t>
            </a:r>
          </a:p>
          <a:p>
            <a:pPr algn="l">
              <a:lnSpc>
                <a:spcPct val="18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4A94E"/>
                </a:solidFill>
                <a:latin typeface="Courier New"/>
              </a:rPr>
              <a:t>→ </a:t>
            </a:r>
            <a:r>
              <a:rPr sz="1200" b="0" i="0">
                <a:solidFill>
                  <a:srgbClr val="F1D6A5"/>
                </a:solidFill>
                <a:latin typeface="Courier New"/>
              </a:rPr>
              <a:t>想法，已经能用了。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4616" y="452628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C7C76"/>
                </a:solidFill>
                <a:latin typeface="Noto Sans CJK SC"/>
              </a:rPr>
              <a:t>不必先成为工程师，也能先把东西做出来</a:t>
            </a:r>
          </a:p>
        </p:txBody>
      </p:sp>
      <p:sp>
        <p:nvSpPr>
          <p:cNvPr id="27" name="AILabel"/>
          <p:cNvSpPr txBox="1"/>
          <p:nvPr/>
        </p:nvSpPr>
        <p:spPr>
          <a:xfrm>
            <a:off x="9611695" y="6278000"/>
            <a:ext cx="2400000" cy="40000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FFFF"/>
            </a:solidFill>
          </a:ln>
        </p:spPr>
        <p:txBody>
          <a:bodyPr wrap="square" rtlCol="0" anchor="ctr" lIns="91440" tIns="45720" rIns="91440" bIns="45720"/>
          <a:lstStyle/>
          <a:p>
            <a:pPr algn="ctr"/>
            <a:r>
              <a:rPr lang="zh-CN" sz="1400" b="1" dirty="0">
                <a:solidFill>
                  <a:srgbClr val="FFFFFF"/>
                </a:solidFill>
                <a:latin typeface="Arial"/>
                <a:ea typeface="SimSun"/>
              </a:rPr>
              <a:t>含 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" y="649224"/>
            <a:ext cx="82296" cy="82296"/>
          </a:xfrm>
          <a:prstGeom prst="ellipse">
            <a:avLst/>
          </a:prstGeom>
          <a:solidFill>
            <a:srgbClr val="A8722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4983" y="56692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220">
                <a:solidFill>
                  <a:srgbClr val="A87222"/>
                </a:solidFill>
                <a:latin typeface="Noto Sans CJK SC"/>
              </a:rPr>
              <a:t>01 / 引子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562356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 spc="100">
                <a:solidFill>
                  <a:srgbClr val="14312E"/>
                </a:solidFill>
                <a:latin typeface="Noto Serif CJK SC"/>
              </a:rPr>
              <a:t>除了写作业、算实验数据，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 spc="100">
                <a:solidFill>
                  <a:srgbClr val="14312E"/>
                </a:solidFill>
                <a:latin typeface="Noto Serif CJK SC"/>
              </a:rPr>
              <a:t>AI 还能帮我们做什么？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401568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C7C76"/>
                </a:solidFill>
                <a:latin typeface="Noto Sans CJK SC"/>
              </a:rPr>
              <a:t>这两个答案，大家已经很熟了。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858768"/>
            <a:ext cx="1417320" cy="47548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DDD4C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968496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C7C76"/>
                </a:solidFill>
                <a:latin typeface="Noto Sans CJK SC"/>
              </a:rPr>
              <a:t>写作业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3858768"/>
            <a:ext cx="1417320" cy="47548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DDD4C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77440" y="3968496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C7C76"/>
                </a:solidFill>
                <a:latin typeface="Noto Sans CJK SC"/>
              </a:rPr>
              <a:t>算实验数据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553712"/>
            <a:ext cx="5486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spc="50">
                <a:solidFill>
                  <a:srgbClr val="A87222"/>
                </a:solidFill>
                <a:latin typeface="Noto Sans CJK SC"/>
              </a:rPr>
              <a:t>—— 然后呢？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956048"/>
            <a:ext cx="5394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4312E"/>
                </a:solidFill>
                <a:latin typeface="Noto Sans CJK SC"/>
              </a:rPr>
              <a:t>如果 AI 不只回答问题，而是直接做出</a:t>
            </a:r>
          </a:p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4312E"/>
                </a:solidFill>
                <a:latin typeface="Noto Sans CJK SC"/>
              </a:rPr>
              <a:t>一个能跑起来的东西呢？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1170432"/>
            <a:ext cx="4727448" cy="3794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4C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23176" y="1353312"/>
            <a:ext cx="64008" cy="64008"/>
          </a:xfrm>
          <a:prstGeom prst="ellipse">
            <a:avLst/>
          </a:prstGeom>
          <a:solidFill>
            <a:srgbClr val="DDD4C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278624" y="1353312"/>
            <a:ext cx="64008" cy="64008"/>
          </a:xfrm>
          <a:prstGeom prst="ellipse">
            <a:avLst/>
          </a:prstGeom>
          <a:solidFill>
            <a:srgbClr val="DDD4C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34072" y="1353312"/>
            <a:ext cx="64008" cy="64008"/>
          </a:xfrm>
          <a:prstGeom prst="ellipse">
            <a:avLst/>
          </a:prstGeom>
          <a:solidFill>
            <a:srgbClr val="DDD4C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129844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50">
                <a:solidFill>
                  <a:srgbClr val="6C7C76"/>
                </a:solidFill>
                <a:latin typeface="Noto Sans CJK SC"/>
              </a:rPr>
              <a:t>对话窗口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85048" y="1773936"/>
            <a:ext cx="2971800" cy="566928"/>
          </a:xfrm>
          <a:prstGeom prst="roundRect">
            <a:avLst>
              <a:gd name="adj" fmla="val 35000"/>
            </a:avLst>
          </a:prstGeom>
          <a:solidFill>
            <a:srgbClr val="0E3A3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49640" y="1874519"/>
            <a:ext cx="264261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Noto Sans CJK SC"/>
              </a:rPr>
              <a:t>帮我把这组实验数据算一下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04888" y="2468880"/>
            <a:ext cx="2487168" cy="548640"/>
          </a:xfrm>
          <a:prstGeom prst="roundRect">
            <a:avLst>
              <a:gd name="adj" fmla="val 35000"/>
            </a:avLst>
          </a:prstGeom>
          <a:solidFill>
            <a:srgbClr val="ECE5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69479" y="2569464"/>
            <a:ext cx="215798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4312E"/>
                </a:solidFill>
                <a:latin typeface="Noto Sans CJK SC"/>
              </a:rPr>
              <a:t>已生成图表，一共 3 张 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85048" y="3145536"/>
            <a:ext cx="2971800" cy="566928"/>
          </a:xfrm>
          <a:prstGeom prst="roundRect">
            <a:avLst>
              <a:gd name="adj" fmla="val 35000"/>
            </a:avLst>
          </a:prstGeom>
          <a:solidFill>
            <a:srgbClr val="0E3A3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9640" y="3246120"/>
            <a:ext cx="264261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Noto Sans CJK SC"/>
              </a:rPr>
              <a:t>再顺便帮我做个汇报 PPT？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04888" y="3840480"/>
            <a:ext cx="3657600" cy="786384"/>
          </a:xfrm>
          <a:prstGeom prst="roundRect">
            <a:avLst>
              <a:gd name="adj" fmla="val 35000"/>
            </a:avLst>
          </a:prstGeom>
          <a:solidFill>
            <a:srgbClr val="F1D6A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69479" y="3941064"/>
            <a:ext cx="3328416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4312E"/>
                </a:solidFill>
                <a:latin typeface="Noto Sans CJK SC"/>
              </a:rPr>
              <a:t>当然可以。不过你有没有想过——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4312E"/>
                </a:solidFill>
                <a:latin typeface="Noto Sans CJK SC"/>
              </a:rPr>
              <a:t>AI 还能直接做出一个能用的产品？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5650992"/>
            <a:ext cx="12191695" cy="1207008"/>
          </a:xfrm>
          <a:prstGeom prst="rect">
            <a:avLst/>
          </a:prstGeom>
          <a:solidFill>
            <a:srgbClr val="0E3A3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77240" y="5989320"/>
            <a:ext cx="82296" cy="82296"/>
          </a:xfrm>
          <a:prstGeom prst="ellipse">
            <a:avLst/>
          </a:prstGeom>
          <a:solidFill>
            <a:srgbClr val="E4A94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6695" y="590702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220">
                <a:solidFill>
                  <a:srgbClr val="E4A94E"/>
                </a:solidFill>
                <a:latin typeface="Noto Sans CJK SC"/>
              </a:rPr>
              <a:t>选题背景 / 为什么是这道题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6172200"/>
            <a:ext cx="10424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Noto Sans CJK SC"/>
              </a:rPr>
              <a:t>AI 已经走进每个人的桌面，但大多数人只把它当「搜索框」——我们想看看，它能不能变成「生产力」。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" y="649224"/>
            <a:ext cx="82296" cy="82296"/>
          </a:xfrm>
          <a:prstGeom prst="ellipse">
            <a:avLst/>
          </a:prstGeom>
          <a:solidFill>
            <a:srgbClr val="A8722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4983" y="56692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220">
                <a:solidFill>
                  <a:srgbClr val="A87222"/>
                </a:solidFill>
                <a:latin typeface="Noto Sans CJK SC"/>
              </a:rPr>
              <a:t>02 / 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5943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 spc="100">
                <a:solidFill>
                  <a:srgbClr val="14312E"/>
                </a:solidFill>
                <a:latin typeface="Noto Serif CJK SC"/>
              </a:rPr>
              <a:t>AI 擅长什么？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28055" y="1060704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C7C76"/>
                </a:solidFill>
                <a:latin typeface="Noto Sans CJK SC"/>
              </a:rPr>
              <a:t>先看清它的长处，才知道能把它放到哪里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920240"/>
            <a:ext cx="2467279" cy="2743200"/>
          </a:xfrm>
          <a:prstGeom prst="roundRect">
            <a:avLst>
              <a:gd name="adj" fmla="val 6000"/>
            </a:avLst>
          </a:prstGeom>
          <a:solidFill>
            <a:srgbClr val="FDFAF1"/>
          </a:solidFill>
          <a:ln w="12700">
            <a:solidFill>
              <a:srgbClr val="DDD4C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4983" y="215798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50">
                <a:solidFill>
                  <a:srgbClr val="A87222"/>
                </a:solidFill>
                <a:latin typeface="Courier New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14983" y="2633472"/>
            <a:ext cx="457200" cy="54864"/>
          </a:xfrm>
          <a:prstGeom prst="rect">
            <a:avLst/>
          </a:prstGeom>
          <a:solidFill>
            <a:srgbClr val="E4A94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4983" y="2852928"/>
            <a:ext cx="201007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60">
                <a:solidFill>
                  <a:srgbClr val="14312E"/>
                </a:solidFill>
                <a:latin typeface="Noto Serif CJK SC"/>
              </a:rPr>
              <a:t>检索 · 归纳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3" y="3438144"/>
            <a:ext cx="201007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6C7C76"/>
                </a:solidFill>
                <a:latin typeface="Noto Sans CJK SC"/>
              </a:rPr>
              <a:t>把海量资料，压缩成</a:t>
            </a:r>
          </a:p>
          <a:p>
            <a:pPr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6C7C76"/>
                </a:solidFill>
                <a:latin typeface="Noto Sans CJK SC"/>
              </a:rPr>
              <a:t>几句能用的结论。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00551" y="1920240"/>
            <a:ext cx="2467279" cy="2743200"/>
          </a:xfrm>
          <a:prstGeom prst="roundRect">
            <a:avLst>
              <a:gd name="adj" fmla="val 6000"/>
            </a:avLst>
          </a:prstGeom>
          <a:solidFill>
            <a:srgbClr val="FDFAF1"/>
          </a:solidFill>
          <a:ln w="12700">
            <a:solidFill>
              <a:srgbClr val="DDD4C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38295" y="215798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50">
                <a:solidFill>
                  <a:srgbClr val="A87222"/>
                </a:solidFill>
                <a:latin typeface="Courier New"/>
              </a:rP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38295" y="2633472"/>
            <a:ext cx="457200" cy="54864"/>
          </a:xfrm>
          <a:prstGeom prst="rect">
            <a:avLst/>
          </a:prstGeom>
          <a:solidFill>
            <a:srgbClr val="E4A94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38295" y="2852928"/>
            <a:ext cx="201007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60">
                <a:solidFill>
                  <a:srgbClr val="14312E"/>
                </a:solidFill>
                <a:latin typeface="Noto Serif CJK SC"/>
              </a:rPr>
              <a:t>生成 · 试错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8295" y="3438144"/>
            <a:ext cx="201007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6C7C76"/>
                </a:solidFill>
                <a:latin typeface="Noto Sans CJK SC"/>
              </a:rPr>
              <a:t>文案、代码、方案，</a:t>
            </a:r>
          </a:p>
          <a:p>
            <a:pPr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6C7C76"/>
                </a:solidFill>
                <a:latin typeface="Noto Sans CJK SC"/>
              </a:rPr>
              <a:t>几秒钟就有可运行版本。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3863" y="1920240"/>
            <a:ext cx="2467279" cy="2743200"/>
          </a:xfrm>
          <a:prstGeom prst="roundRect">
            <a:avLst>
              <a:gd name="adj" fmla="val 6000"/>
            </a:avLst>
          </a:prstGeom>
          <a:solidFill>
            <a:srgbClr val="FDFAF1"/>
          </a:solidFill>
          <a:ln w="12700">
            <a:solidFill>
              <a:srgbClr val="DDD4C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1607" y="215798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50">
                <a:solidFill>
                  <a:srgbClr val="A87222"/>
                </a:solidFill>
                <a:latin typeface="Courier New"/>
              </a:rPr>
              <a:t>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61607" y="2633472"/>
            <a:ext cx="457200" cy="54864"/>
          </a:xfrm>
          <a:prstGeom prst="rect">
            <a:avLst/>
          </a:prstGeom>
          <a:solidFill>
            <a:srgbClr val="E4A94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1607" y="2852928"/>
            <a:ext cx="201007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60">
                <a:solidFill>
                  <a:srgbClr val="14312E"/>
                </a:solidFill>
                <a:latin typeface="Noto Serif CJK SC"/>
              </a:rPr>
              <a:t>理解 · 调试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1607" y="3438144"/>
            <a:ext cx="201007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6C7C76"/>
                </a:solidFill>
                <a:latin typeface="Noto Sans CJK SC"/>
              </a:rPr>
              <a:t>报错、逻辑、边界条件，</a:t>
            </a:r>
          </a:p>
          <a:p>
            <a:pPr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6C7C76"/>
                </a:solidFill>
                <a:latin typeface="Noto Sans CJK SC"/>
              </a:rPr>
              <a:t>它能陪你一行行改。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47175" y="1920240"/>
            <a:ext cx="2467279" cy="2743200"/>
          </a:xfrm>
          <a:prstGeom prst="roundRect">
            <a:avLst>
              <a:gd name="adj" fmla="val 6000"/>
            </a:avLst>
          </a:prstGeom>
          <a:solidFill>
            <a:srgbClr val="FDFAF1"/>
          </a:solidFill>
          <a:ln w="12700">
            <a:solidFill>
              <a:srgbClr val="DDD4C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4919" y="215798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50">
                <a:solidFill>
                  <a:srgbClr val="A87222"/>
                </a:solidFill>
                <a:latin typeface="Courier New"/>
              </a:rPr>
              <a:t>04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84919" y="2633472"/>
            <a:ext cx="457200" cy="54864"/>
          </a:xfrm>
          <a:prstGeom prst="rect">
            <a:avLst/>
          </a:prstGeom>
          <a:solidFill>
            <a:srgbClr val="E4A94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4919" y="2852928"/>
            <a:ext cx="201007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60">
                <a:solidFill>
                  <a:srgbClr val="14312E"/>
                </a:solidFill>
                <a:latin typeface="Noto Serif CJK SC"/>
              </a:rPr>
              <a:t>并行 · 协作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4919" y="3438144"/>
            <a:ext cx="201007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6C7C76"/>
                </a:solidFill>
                <a:latin typeface="Noto Sans CJK SC"/>
              </a:rPr>
              <a:t>随时响应，一个人也能</a:t>
            </a:r>
          </a:p>
          <a:p>
            <a:pPr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6C7C76"/>
                </a:solidFill>
                <a:latin typeface="Noto Sans CJK SC"/>
              </a:rPr>
              <a:t>同时推进好几条线。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5029200"/>
            <a:ext cx="10637215" cy="1078992"/>
          </a:xfrm>
          <a:prstGeom prst="roundRect">
            <a:avLst>
              <a:gd name="adj" fmla="val 6000"/>
            </a:avLst>
          </a:prstGeom>
          <a:solidFill>
            <a:srgbClr val="0E3A3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4672" y="5157216"/>
            <a:ext cx="64008" cy="822960"/>
          </a:xfrm>
          <a:prstGeom prst="roundRect">
            <a:avLst>
              <a:gd name="adj" fmla="val 50000"/>
            </a:avLst>
          </a:prstGeom>
          <a:solidFill>
            <a:srgbClr val="E4A94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97864" y="5248656"/>
            <a:ext cx="99056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00">
                <a:solidFill>
                  <a:srgbClr val="E4A94E"/>
                </a:solidFill>
                <a:latin typeface="Noto Sans CJK SC"/>
              </a:rPr>
              <a:t>一句话：</a:t>
            </a:r>
            <a:r>
              <a:rPr sz="1550" b="1" i="0" spc="50">
                <a:solidFill>
                  <a:srgbClr val="FFFFFF"/>
                </a:solidFill>
                <a:latin typeface="Noto Sans CJK SC"/>
              </a:rPr>
              <a:t>AI 擅长的不是替你拍板，而是把「从想法到能跑」的距离，压到最短。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455664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240">
                <a:solidFill>
                  <a:srgbClr val="6C7C76"/>
                </a:solidFill>
                <a:latin typeface="Noto Sans CJK SC"/>
              </a:rPr>
              <a:t>VIBE CODING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17175" y="642823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120">
                <a:solidFill>
                  <a:srgbClr val="6C7C76"/>
                </a:solidFill>
                <a:latin typeface="Noto Sans CJK SC"/>
              </a:rPr>
              <a:t>03 / 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" y="466344"/>
            <a:ext cx="82296" cy="82296"/>
          </a:xfrm>
          <a:prstGeom prst="ellipse">
            <a:avLst/>
          </a:prstGeom>
          <a:solidFill>
            <a:srgbClr val="A8722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4983" y="38404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220">
                <a:solidFill>
                  <a:srgbClr val="A87222"/>
                </a:solidFill>
                <a:latin typeface="Noto Sans CJK SC"/>
              </a:rPr>
              <a:t>03 / 提问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pc="60">
                <a:solidFill>
                  <a:srgbClr val="14312E"/>
                </a:solidFill>
                <a:latin typeface="Noto Serif CJK SC"/>
              </a:rPr>
              <a:t>四个行业，同一个问题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8215" y="768096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C7C76"/>
                </a:solidFill>
                <a:latin typeface="Noto Sans CJK SC"/>
              </a:rPr>
              <a:t>不写代码的人，也能先做出一个东西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87952" y="3107392"/>
            <a:ext cx="554560" cy="207818"/>
          </a:xfrm>
          <a:prstGeom prst="line">
            <a:avLst/>
          </a:prstGeom>
          <a:ln w="13970">
            <a:solidFill>
              <a:srgbClr val="E4A94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7464542" y="3044711"/>
            <a:ext cx="938794" cy="316253"/>
          </a:xfrm>
          <a:prstGeom prst="line">
            <a:avLst/>
          </a:prstGeom>
          <a:ln w="13970">
            <a:solidFill>
              <a:srgbClr val="E4A94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4187952" y="4382715"/>
            <a:ext cx="575852" cy="242402"/>
          </a:xfrm>
          <a:prstGeom prst="line">
            <a:avLst/>
          </a:prstGeom>
          <a:ln w="13970">
            <a:solidFill>
              <a:srgbClr val="E4A94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 flipV="1">
            <a:off x="7446635" y="4333507"/>
            <a:ext cx="956701" cy="362019"/>
          </a:xfrm>
          <a:prstGeom prst="line">
            <a:avLst/>
          </a:prstGeom>
          <a:ln w="13970">
            <a:solidFill>
              <a:srgbClr val="E4A94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4760366" y="2487168"/>
            <a:ext cx="2670048" cy="2670048"/>
          </a:xfrm>
          <a:prstGeom prst="ellipse">
            <a:avLst/>
          </a:prstGeom>
          <a:solidFill>
            <a:srgbClr val="0E3A36"/>
          </a:solidFill>
          <a:ln w="27940">
            <a:solidFill>
              <a:srgbClr val="E4A94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43246" y="2944368"/>
            <a:ext cx="2304288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 i="0" spc="50">
                <a:solidFill>
                  <a:srgbClr val="FFFFFF"/>
                </a:solidFill>
                <a:latin typeface="Noto Serif CJK SC"/>
              </a:rPr>
              <a:t>Vibe Coding</a:t>
            </a:r>
          </a:p>
          <a:p>
            <a:pPr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 i="0" spc="50">
                <a:solidFill>
                  <a:srgbClr val="FFFFFF"/>
                </a:solidFill>
                <a:latin typeface="Noto Serif CJK SC"/>
              </a:rPr>
              <a:t>可以做出</a:t>
            </a:r>
          </a:p>
          <a:p>
            <a:pPr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 i="0" spc="50">
                <a:solidFill>
                  <a:srgbClr val="FFFFFF"/>
                </a:solidFill>
                <a:latin typeface="Noto Serif CJK SC"/>
              </a:rPr>
              <a:t>什么贡献？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43246" y="4681727"/>
            <a:ext cx="23042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E4A94E"/>
                </a:solidFill>
                <a:latin typeface="Noto Sans CJK SC"/>
              </a:rPr>
              <a:t>把经验，变成工具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1810512"/>
            <a:ext cx="3236976" cy="1353312"/>
          </a:xfrm>
          <a:prstGeom prst="roundRect">
            <a:avLst>
              <a:gd name="adj" fmla="val 7000"/>
            </a:avLst>
          </a:prstGeom>
          <a:solidFill>
            <a:srgbClr val="FDFAF1"/>
          </a:solidFill>
          <a:ln w="12700">
            <a:solidFill>
              <a:srgbClr val="DDD4C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152144" y="2066543"/>
            <a:ext cx="310896" cy="310896"/>
          </a:xfrm>
          <a:prstGeom prst="roundRect">
            <a:avLst>
              <a:gd name="adj" fmla="val 8000"/>
            </a:avLst>
          </a:prstGeom>
          <a:solidFill>
            <a:srgbClr val="0E3A3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52144" y="210312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E4A94E"/>
                </a:solidFill>
                <a:latin typeface="Courier New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2029967"/>
            <a:ext cx="23682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80">
                <a:solidFill>
                  <a:srgbClr val="14312E"/>
                </a:solidFill>
                <a:latin typeface="Noto Serif CJK SC"/>
              </a:rPr>
              <a:t>运输行业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2468880"/>
            <a:ext cx="23225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C7C76"/>
                </a:solidFill>
                <a:latin typeface="Noto Sans CJK SC"/>
              </a:rPr>
              <a:t>· 调度排班、路线规划的小工具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2752344"/>
            <a:ext cx="23225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C7C76"/>
                </a:solidFill>
                <a:latin typeface="Noto Sans CJK SC"/>
              </a:rPr>
              <a:t>· 运价与成本一屏看清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39912" y="1810512"/>
            <a:ext cx="3236976" cy="1353312"/>
          </a:xfrm>
          <a:prstGeom prst="roundRect">
            <a:avLst>
              <a:gd name="adj" fmla="val 7000"/>
            </a:avLst>
          </a:prstGeom>
          <a:solidFill>
            <a:srgbClr val="FDFAF1"/>
          </a:solidFill>
          <a:ln w="12700">
            <a:solidFill>
              <a:srgbClr val="DDD4C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677656" y="2066543"/>
            <a:ext cx="310896" cy="310896"/>
          </a:xfrm>
          <a:prstGeom prst="roundRect">
            <a:avLst>
              <a:gd name="adj" fmla="val 8000"/>
            </a:avLst>
          </a:prstGeom>
          <a:solidFill>
            <a:srgbClr val="0E3A3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77656" y="210312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E4A94E"/>
                </a:solidFill>
                <a:latin typeface="Courier New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029967"/>
            <a:ext cx="23682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80">
                <a:solidFill>
                  <a:srgbClr val="14312E"/>
                </a:solidFill>
                <a:latin typeface="Noto Serif CJK SC"/>
              </a:rPr>
              <a:t>财会行业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468880"/>
            <a:ext cx="23225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C7C76"/>
                </a:solidFill>
                <a:latin typeface="Noto Sans CJK SC"/>
              </a:rPr>
              <a:t>· 票据识别，自动对账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2752344"/>
            <a:ext cx="23225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C7C76"/>
                </a:solidFill>
                <a:latin typeface="Noto Sans CJK SC"/>
              </a:rPr>
              <a:t>· 报表看板，随查随用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645152"/>
            <a:ext cx="3236976" cy="1353312"/>
          </a:xfrm>
          <a:prstGeom prst="roundRect">
            <a:avLst>
              <a:gd name="adj" fmla="val 7000"/>
            </a:avLst>
          </a:prstGeom>
          <a:solidFill>
            <a:srgbClr val="FDFAF1"/>
          </a:solidFill>
          <a:ln w="12700">
            <a:solidFill>
              <a:srgbClr val="DDD4C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152144" y="4901184"/>
            <a:ext cx="310896" cy="310896"/>
          </a:xfrm>
          <a:prstGeom prst="roundRect">
            <a:avLst>
              <a:gd name="adj" fmla="val 8000"/>
            </a:avLst>
          </a:prstGeom>
          <a:solidFill>
            <a:srgbClr val="0E3A3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52144" y="493776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E4A94E"/>
                </a:solidFill>
                <a:latin typeface="Courier New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72768" y="4864608"/>
            <a:ext cx="23682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80">
                <a:solidFill>
                  <a:srgbClr val="14312E"/>
                </a:solidFill>
                <a:latin typeface="Noto Serif CJK SC"/>
              </a:rPr>
              <a:t>外贸行业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72768" y="5303520"/>
            <a:ext cx="23225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C7C76"/>
                </a:solidFill>
                <a:latin typeface="Noto Sans CJK SC"/>
              </a:rPr>
              <a:t>· 多语言商品页，一人生成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72768" y="5586984"/>
            <a:ext cx="23225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C7C76"/>
                </a:solidFill>
                <a:latin typeface="Noto Sans CJK SC"/>
              </a:rPr>
              <a:t>· 询盘跟进 + 合规清单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39912" y="4645152"/>
            <a:ext cx="3236976" cy="1353312"/>
          </a:xfrm>
          <a:prstGeom prst="roundRect">
            <a:avLst>
              <a:gd name="adj" fmla="val 7000"/>
            </a:avLst>
          </a:prstGeom>
          <a:solidFill>
            <a:srgbClr val="FDFAF1"/>
          </a:solidFill>
          <a:ln w="12700">
            <a:solidFill>
              <a:srgbClr val="DDD4C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677656" y="4901184"/>
            <a:ext cx="310896" cy="310896"/>
          </a:xfrm>
          <a:prstGeom prst="roundRect">
            <a:avLst>
              <a:gd name="adj" fmla="val 8000"/>
            </a:avLst>
          </a:prstGeom>
          <a:solidFill>
            <a:srgbClr val="0E3A3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77656" y="493776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E4A94E"/>
                </a:solidFill>
                <a:latin typeface="Courier New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4864608"/>
            <a:ext cx="23682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80">
                <a:solidFill>
                  <a:srgbClr val="14312E"/>
                </a:solidFill>
                <a:latin typeface="Noto Serif CJK SC"/>
              </a:rPr>
              <a:t>个人生涯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5303520"/>
            <a:ext cx="23225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C7C76"/>
                </a:solidFill>
                <a:latin typeface="Noto Sans CJK SC"/>
              </a:rPr>
              <a:t>· 作品集 / 简历网站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80" y="5586984"/>
            <a:ext cx="23225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C7C76"/>
                </a:solidFill>
                <a:latin typeface="Noto Sans CJK SC"/>
              </a:rPr>
              <a:t>· 简历优化与效率小工具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0" y="6382512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C7C76"/>
                </a:solidFill>
                <a:latin typeface="Noto Sans CJK SC"/>
              </a:rPr>
              <a:t>共同点：不需要一个大团队——一台电脑，一个足够具体的问题。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17175" y="665683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B8C6C1"/>
                </a:solidFill>
                <a:latin typeface="Noto Sans CJK SC"/>
              </a:rPr>
              <a:t>04 / 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3A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457200"/>
            <a:ext cx="64008" cy="5760720"/>
          </a:xfrm>
          <a:prstGeom prst="rect">
            <a:avLst/>
          </a:prstGeom>
          <a:solidFill>
            <a:srgbClr val="17443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" y="4754880"/>
            <a:ext cx="64008" cy="64008"/>
          </a:xfrm>
          <a:prstGeom prst="ellipse">
            <a:avLst/>
          </a:prstGeom>
          <a:solidFill>
            <a:srgbClr val="E4A94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5" y="4754880"/>
            <a:ext cx="64008" cy="64008"/>
          </a:xfrm>
          <a:prstGeom prst="ellipse">
            <a:avLst/>
          </a:prstGeom>
          <a:solidFill>
            <a:srgbClr val="E4A94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16152" y="4754880"/>
            <a:ext cx="64008" cy="64008"/>
          </a:xfrm>
          <a:prstGeom prst="ellipse">
            <a:avLst/>
          </a:prstGeom>
          <a:solidFill>
            <a:srgbClr val="E4A94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4928616"/>
            <a:ext cx="64008" cy="64008"/>
          </a:xfrm>
          <a:prstGeom prst="ellipse">
            <a:avLst/>
          </a:prstGeom>
          <a:solidFill>
            <a:srgbClr val="E4A94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42415" y="4928616"/>
            <a:ext cx="64008" cy="64008"/>
          </a:xfrm>
          <a:prstGeom prst="ellipse">
            <a:avLst/>
          </a:prstGeom>
          <a:solidFill>
            <a:srgbClr val="E4A94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16152" y="4928616"/>
            <a:ext cx="64008" cy="64008"/>
          </a:xfrm>
          <a:prstGeom prst="ellipse">
            <a:avLst/>
          </a:prstGeom>
          <a:solidFill>
            <a:srgbClr val="E4A94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5102352"/>
            <a:ext cx="64008" cy="64008"/>
          </a:xfrm>
          <a:prstGeom prst="ellipse">
            <a:avLst/>
          </a:prstGeom>
          <a:solidFill>
            <a:srgbClr val="E4A94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42415" y="5102352"/>
            <a:ext cx="64008" cy="64008"/>
          </a:xfrm>
          <a:prstGeom prst="ellipse">
            <a:avLst/>
          </a:prstGeom>
          <a:solidFill>
            <a:srgbClr val="E4A94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16152" y="5102352"/>
            <a:ext cx="64008" cy="64008"/>
          </a:xfrm>
          <a:prstGeom prst="ellipse">
            <a:avLst/>
          </a:prstGeom>
          <a:solidFill>
            <a:srgbClr val="E4A94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" y="649224"/>
            <a:ext cx="82296" cy="82296"/>
          </a:xfrm>
          <a:prstGeom prst="ellipse">
            <a:avLst/>
          </a:prstGeom>
          <a:solidFill>
            <a:srgbClr val="A8722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4983" y="56692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220">
                <a:solidFill>
                  <a:srgbClr val="A87222"/>
                </a:solidFill>
                <a:latin typeface="Noto Sans CJK SC"/>
              </a:rPr>
              <a:t>结语 · 致谢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1060704"/>
            <a:ext cx="65836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 spc="120">
                <a:solidFill>
                  <a:srgbClr val="FFFFFF"/>
                </a:solidFill>
                <a:latin typeface="Noto Serif CJK SC"/>
              </a:rPr>
              <a:t>让每一个想法，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 spc="120">
                <a:solidFill>
                  <a:srgbClr val="FFFFFF"/>
                </a:solidFill>
                <a:latin typeface="Noto Serif CJK SC"/>
              </a:rPr>
              <a:t>都有机会被</a:t>
            </a:r>
            <a:r>
              <a:rPr sz="3400" b="1" i="0" spc="120">
                <a:solidFill>
                  <a:srgbClr val="E4A94E"/>
                </a:solidFill>
                <a:latin typeface="Noto Serif CJK SC"/>
              </a:rPr>
              <a:t>跑起来</a:t>
            </a:r>
            <a:r>
              <a:rPr sz="3400" b="1" i="0" spc="120">
                <a:solidFill>
                  <a:srgbClr val="FFFFFF"/>
                </a:solidFill>
                <a:latin typeface="Noto Serif CJK SC"/>
              </a:rPr>
              <a:t>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92608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20">
                <a:solidFill>
                  <a:srgbClr val="E4A94E"/>
                </a:solidFill>
                <a:latin typeface="Noto Sans CJK SC"/>
              </a:rPr>
              <a:t>愿 景 / 如果问题得到解决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236976"/>
            <a:ext cx="5715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8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C6C1"/>
                </a:solidFill>
                <a:latin typeface="Noto Sans CJK SC"/>
              </a:rPr>
              <a:t>行业里的普通人，不必先学会写代码，也能把自己最懂的那部分经验，做成别人用得上的工具——一个调度表、一套对账流程、一页能接询盘的网站。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742432"/>
            <a:ext cx="5943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spc="140">
                <a:solidFill>
                  <a:srgbClr val="E4A94E"/>
                </a:solidFill>
                <a:latin typeface="Noto Serif CJK SC"/>
              </a:rPr>
              <a:t>锐意进取，创新创业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144768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80">
                <a:solidFill>
                  <a:srgbClr val="6C7C76"/>
                </a:solidFill>
                <a:latin typeface="Noto Sans CJK SC"/>
              </a:rPr>
              <a:t>河北师范大学 · 创业组 ｜ 2026.10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60920" y="1170432"/>
            <a:ext cx="4069080" cy="3977639"/>
          </a:xfrm>
          <a:prstGeom prst="roundRect">
            <a:avLst>
              <a:gd name="adj" fmla="val 5000"/>
            </a:avLst>
          </a:prstGeom>
          <a:solidFill>
            <a:srgbClr val="17443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08392" y="1481328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60">
                <a:solidFill>
                  <a:srgbClr val="E4A94E"/>
                </a:solidFill>
                <a:latin typeface="Noto Sans CJK SC"/>
              </a:rPr>
              <a:t>致 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08392" y="1755648"/>
            <a:ext cx="3429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spc="160">
                <a:solidFill>
                  <a:srgbClr val="FFFFFF"/>
                </a:solidFill>
                <a:latin typeface="Noto Serif CJK SC"/>
              </a:rPr>
              <a:t>谢谢聆听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08392" y="2340864"/>
            <a:ext cx="341071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8C6C1"/>
                </a:solidFill>
                <a:latin typeface="Noto Sans CJK SC"/>
              </a:rPr>
              <a:t>感谢老师的指导，也感谢</a:t>
            </a:r>
          </a:p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8C6C1"/>
                </a:solidFill>
                <a:latin typeface="Noto Sans CJK SC"/>
              </a:rPr>
              <a:t>创业组每一位成员的投入。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08392" y="3017520"/>
            <a:ext cx="34107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80">
                <a:solidFill>
                  <a:srgbClr val="E4A94E"/>
                </a:solidFill>
                <a:latin typeface="Noto Sans CJK SC"/>
              </a:rPr>
              <a:t>创业组 · 全体成员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08392" y="3291839"/>
            <a:ext cx="3429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B8C6C1"/>
                </a:solidFill>
                <a:latin typeface="Noto Sans CJK SC"/>
              </a:rPr>
              <a:t>张哲铭　葛龙霏　赵嘉轩　袁佳慧</a:t>
            </a:r>
          </a:p>
          <a:p>
            <a:pPr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B8C6C1"/>
                </a:solidFill>
                <a:latin typeface="Noto Sans CJK SC"/>
              </a:rPr>
              <a:t>刘海坤　马天姿　孟子涵　刘相楠</a:t>
            </a:r>
          </a:p>
          <a:p>
            <a:pPr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B8C6C1"/>
                </a:solidFill>
                <a:latin typeface="Noto Sans CJK SC"/>
              </a:rPr>
              <a:t>刘　昕　张家欣　晋天洋　魏照瀚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